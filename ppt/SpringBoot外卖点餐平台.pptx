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外卖点餐平台 · 微服务架构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SPRING CLOUD MICROSERVICES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5400" b="1">
                <a:solidFill>
                  <a:srgbClr val="F1EFEA"/>
                </a:solidFill>
                <a:latin typeface="Microsoft YaHei UI"/>
              </a:defRPr>
            </a:pPr>
            <a:r>
              <a:t>外卖点餐平台</a:t>
            </a:r>
          </a:p>
          <a:p>
            <a:pPr algn="l">
              <a:spcBef>
                <a:spcPts val="0"/>
              </a:spcBef>
              <a:spcAft>
                <a:spcPts val="2400"/>
              </a:spcAft>
              <a:defRPr sz="2400" b="0">
                <a:solidFill>
                  <a:srgbClr val="E8E5DE"/>
                </a:solidFill>
                <a:latin typeface="Microsoft YaHei UI"/>
              </a:defRPr>
            </a:pPr>
            <a:r>
              <a:t>微服务架构设计与实现</a:t>
            </a:r>
          </a:p>
          <a:p>
            <a:pPr algn="l">
              <a:spcBef>
                <a:spcPts val="0"/>
              </a:spcBef>
              <a:spcAft>
                <a:spcPts val="3200"/>
              </a:spcAft>
              <a:defRPr sz="1600" b="0">
                <a:solidFill>
                  <a:srgbClr val="E8E5DE"/>
                </a:solidFill>
                <a:latin typeface="Microsoft YaHei UI"/>
              </a:defRPr>
            </a:pPr>
            <a:r>
              <a:t>基于 Spring Boot 3.3+ 构建的校园级外卖点餐系统，强调高并发、实时性、分布式一致性、智能调度与全链路可观测。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08080"/>
                </a:solidFill>
                <a:latin typeface="Consolas"/>
              </a:rPr>
              <a:t>JDK 21</a:t>
            </a:r>
            <a:r>
              <a:rPr sz="1100" b="0">
                <a:solidFill>
                  <a:srgbClr val="808080"/>
                </a:solidFill>
                <a:latin typeface="Consolas"/>
              </a:rPr>
              <a:t>  ·  </a:t>
            </a:r>
            <a:r>
              <a:rPr sz="1100" b="0">
                <a:solidFill>
                  <a:srgbClr val="808080"/>
                </a:solidFill>
                <a:latin typeface="Consolas"/>
              </a:rPr>
              <a:t>Spring Cloud 2025</a:t>
            </a:r>
            <a:r>
              <a:rPr sz="1100" b="0">
                <a:solidFill>
                  <a:srgbClr val="808080"/>
                </a:solidFill>
                <a:latin typeface="Consolas"/>
              </a:rPr>
              <a:t>  ·  </a:t>
            </a:r>
            <a:r>
              <a:rPr sz="1100" b="0">
                <a:solidFill>
                  <a:srgbClr val="808080"/>
                </a:solidFill>
                <a:latin typeface="Consolas"/>
              </a:rPr>
              <a:t>8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一场关于云原生 · 微服务 · 事件驱动的技术分享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— 2026 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项目总览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01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OVERVIEW · 总览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4200" b="1">
                <a:solidFill>
                  <a:srgbClr val="0A0A0B"/>
                </a:solidFill>
                <a:latin typeface="Microsoft YaHei UI"/>
              </a:defRPr>
            </a:pPr>
            <a:r>
              <a:t>接近美团校园版</a:t>
            </a:r>
          </a:p>
          <a:p>
            <a:pPr algn="l">
              <a:spcBef>
                <a:spcPts val="0"/>
              </a:spcBef>
              <a:spcAft>
                <a:spcPts val="3600"/>
              </a:spcAft>
              <a:defRPr sz="1600" b="0">
                <a:solidFill>
                  <a:srgbClr val="18181A"/>
                </a:solidFill>
                <a:latin typeface="Microsoft YaHei UI"/>
              </a:defRPr>
            </a:pPr>
            <a:r>
              <a:t>一个完整的外卖点餐微服务平台，涵盖用户、商家、订单、支付、配送、搜索、通知全链路。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2926080" cy="1828800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JDK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A0A0B"/>
                </a:solidFill>
                <a:latin typeface="Playfair Display"/>
              </a:defRPr>
            </a:pPr>
            <a:r>
              <a:t>21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181A"/>
                </a:solidFill>
                <a:latin typeface="Microsoft YaHei UI"/>
              </a:defRPr>
            </a:pPr>
            <a:r>
              <a:t>最新 LTS，虚拟线程支持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3474720"/>
            <a:ext cx="2926080" cy="1828800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657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MICROSERVICES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A0A0B"/>
                </a:solidFill>
                <a:latin typeface="Playfair Display"/>
              </a:defRPr>
            </a:pPr>
            <a:r>
              <a:t>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181A"/>
                </a:solidFill>
                <a:latin typeface="Microsoft YaHei UI"/>
              </a:defRPr>
            </a:pPr>
            <a:r>
              <a:t>核心服务拆分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3474720"/>
            <a:ext cx="2926080" cy="1828800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657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SPRING CLOUD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A0A0B"/>
                </a:solidFill>
                <a:latin typeface="Playfair Display"/>
              </a:defRPr>
            </a:pPr>
            <a:r>
              <a:t>2025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181A"/>
                </a:solidFill>
                <a:latin typeface="Microsoft YaHei UI"/>
              </a:defRPr>
            </a:pPr>
            <a:r>
              <a:t>Northfields 最新版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项目 · 外卖点餐平台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01 ·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技术栈 ·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PART I · 基础设施层</a:t>
            </a:r>
          </a:p>
          <a:p>
            <a:pPr algn="l">
              <a:spcBef>
                <a:spcPts val="0"/>
              </a:spcBef>
              <a:spcAft>
                <a:spcPts val="2800"/>
              </a:spcAft>
              <a:defRPr sz="4200" b="1">
                <a:solidFill>
                  <a:srgbClr val="F1EFEA"/>
                </a:solidFill>
                <a:latin typeface="Microsoft YaHei UI"/>
              </a:defRPr>
            </a:pPr>
            <a:r>
              <a:t>核心技术栈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404040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EFEA"/>
                </a:solidFill>
                <a:latin typeface="Microsoft YaHei UI"/>
              </a:rPr>
              <a:t>微服务治理</a:t>
            </a:r>
            <a:r>
              <a:rPr sz="1400" b="0">
                <a:solidFill>
                  <a:srgbClr val="E8E5DE"/>
                </a:solidFill>
                <a:latin typeface="Microsoft YaHei UI"/>
              </a:rPr>
              <a:t>    Spring Cloud Alibaba + Nacos 3.1.x（3 节点集群，服务注册发现 + 配置中心）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404040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EFEA"/>
                </a:solidFill>
                <a:latin typeface="Microsoft YaHei UI"/>
              </a:rPr>
              <a:t>API 网关</a:t>
            </a:r>
            <a:r>
              <a:rPr sz="1400" b="0">
                <a:solidFill>
                  <a:srgbClr val="E8E5DE"/>
                </a:solidFill>
                <a:latin typeface="Microsoft YaHei UI"/>
              </a:rPr>
              <a:t>    Spring Cloud Gateway（统一鉴权、限流、日志、跨域、路由）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404040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EFEA"/>
                </a:solidFill>
                <a:latin typeface="Microsoft YaHei UI"/>
              </a:rPr>
              <a:t>ORM</a:t>
            </a:r>
            <a:r>
              <a:rPr sz="1400" b="0">
                <a:solidFill>
                  <a:srgbClr val="E8E5DE"/>
                </a:solidFill>
                <a:latin typeface="Microsoft YaHei UI"/>
              </a:rPr>
              <a:t>    MyBatis-Plus（代码生成、逻辑删除、分页插件）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404040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EFEA"/>
                </a:solidFill>
                <a:latin typeface="Microsoft YaHei UI"/>
              </a:rPr>
              <a:t>缓存</a:t>
            </a:r>
            <a:r>
              <a:rPr sz="1400" b="0">
                <a:solidFill>
                  <a:srgbClr val="E8E5DE"/>
                </a:solidFill>
                <a:latin typeface="Microsoft YaHei UI"/>
              </a:rPr>
              <a:t>    Redis 7.x（分布式锁、购物车、Session、实时数据、ZSet 抢单）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404040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EFEA"/>
                </a:solidFill>
                <a:latin typeface="Microsoft YaHei UI"/>
              </a:rPr>
              <a:t>消息队列</a:t>
            </a:r>
            <a:r>
              <a:rPr sz="1400" b="0">
                <a:solidFill>
                  <a:srgbClr val="E8E5DE"/>
                </a:solidFill>
                <a:latin typeface="Microsoft YaHei UI"/>
              </a:rPr>
              <a:t>    RabbitMQ（可靠异步通知、支付回调）+ Kafka（高吞吐订单事件流、骑手位置上报）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技术栈 · 基础设施层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02 · Tech Stack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技术栈 ·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PART II · 业务能力层</a:t>
            </a:r>
          </a:p>
          <a:p>
            <a:pPr algn="l">
              <a:spcBef>
                <a:spcPts val="0"/>
              </a:spcBef>
              <a:spcAft>
                <a:spcPts val="2800"/>
              </a:spcAft>
              <a:defRPr sz="4200" b="1">
                <a:solidFill>
                  <a:srgbClr val="0A0A0B"/>
                </a:solidFill>
                <a:latin typeface="Microsoft YaHei UI"/>
              </a:defRPr>
            </a:pPr>
            <a:r>
              <a:t>核心技术栈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A0A0B"/>
                </a:solidFill>
                <a:latin typeface="Microsoft YaHei UI"/>
              </a:rPr>
              <a:t>搜索引擎</a:t>
            </a:r>
            <a:r>
              <a:rPr sz="1400" b="0">
                <a:solidFill>
                  <a:srgbClr val="18181A"/>
                </a:solidFill>
                <a:latin typeface="Microsoft YaHei UI"/>
              </a:rPr>
              <a:t>    Elasticsearch 8.x（商家、菜品、订单全文搜索与聚合）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A0A0B"/>
                </a:solidFill>
                <a:latin typeface="Microsoft YaHei UI"/>
              </a:rPr>
              <a:t>分布式事务</a:t>
            </a:r>
            <a:r>
              <a:rPr sz="1400" b="0">
                <a:solidFill>
                  <a:srgbClr val="18181A"/>
                </a:solidFill>
                <a:latin typeface="Microsoft YaHei UI"/>
              </a:rPr>
              <a:t>    Seata 2.5+（AT / Saga 模式，下单扣库存、支付等一致性保障）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A0A0B"/>
                </a:solidFill>
                <a:latin typeface="Microsoft YaHei UI"/>
              </a:rPr>
              <a:t>限流熔断</a:t>
            </a:r>
            <a:r>
              <a:rPr sz="1400" b="0">
                <a:solidFill>
                  <a:srgbClr val="18181A"/>
                </a:solidFill>
                <a:latin typeface="Microsoft YaHei UI"/>
              </a:rPr>
              <a:t>    Sentinel（流量防护、降级、热点参数限流）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A0A0B"/>
                </a:solidFill>
                <a:latin typeface="Microsoft YaHei UI"/>
              </a:rPr>
              <a:t>实时通信</a:t>
            </a:r>
            <a:r>
              <a:rPr sz="1400" b="0">
                <a:solidFill>
                  <a:srgbClr val="18181A"/>
                </a:solidFill>
                <a:latin typeface="Microsoft YaHei UI"/>
              </a:rPr>
              <a:t>    WebSocket + MQTT（骑手位置上报、订单状态推送）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A0A0B"/>
                </a:solidFill>
                <a:latin typeface="Microsoft YaHei UI"/>
              </a:rPr>
              <a:t>地理位置</a:t>
            </a:r>
            <a:r>
              <a:rPr sz="1400" b="0">
                <a:solidFill>
                  <a:srgbClr val="18181A"/>
                </a:solidFill>
                <a:latin typeface="Microsoft YaHei UI"/>
              </a:rPr>
              <a:t>    高德 / 腾讯地图 API（距离计算、ETA、地理围栏）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A0A0B"/>
                </a:solidFill>
                <a:latin typeface="Microsoft YaHei UI"/>
              </a:rPr>
              <a:t>监控观测</a:t>
            </a:r>
            <a:r>
              <a:rPr sz="1400" b="0">
                <a:solidFill>
                  <a:srgbClr val="18181A"/>
                </a:solidFill>
                <a:latin typeface="Microsoft YaHei UI"/>
              </a:rPr>
              <a:t>    Prometheus + Grafana + SkyWalking（全链路追踪 + 指标面板）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技术栈 · 业务能力层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03 · Tech Stack 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架构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ARCHITECTURE · 架构设计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1EFEA"/>
                </a:solidFill>
                <a:latin typeface="Microsoft YaHei UI"/>
              </a:defRPr>
            </a:pPr>
            <a:r>
              <a:t>六大架构原则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1EFEA"/>
                </a:solidFill>
                <a:latin typeface="Microsoft YaHei UI"/>
              </a:defRPr>
            </a:pPr>
            <a:r>
              <a:t>一服务一数据库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5DE"/>
                </a:solidFill>
                <a:latin typeface="Microsoft YaHei UI"/>
              </a:defRPr>
            </a:pPr>
            <a:r>
              <a:t>严格隔离，禁止跨库 Join，数据自治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92608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30632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1EFEA"/>
                </a:solidFill>
                <a:latin typeface="Microsoft YaHei UI"/>
              </a:defRPr>
            </a:pPr>
            <a:r>
              <a:t>Nacos 配置中心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5DE"/>
                </a:solidFill>
                <a:latin typeface="Microsoft YaHei UI"/>
              </a:defRPr>
            </a:pPr>
            <a:r>
              <a:t>Namespace 环境隔离，Group 分 DEV / PROD，动态刷新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1EFEA"/>
                </a:solidFill>
                <a:latin typeface="Microsoft YaHei UI"/>
              </a:defRPr>
            </a:pPr>
            <a:r>
              <a:t>事件驱动优先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5DE"/>
                </a:solidFill>
                <a:latin typeface="Microsoft YaHei UI"/>
              </a:defRPr>
            </a:pPr>
            <a:r>
              <a:t>MQ 解耦异步通信，同步调用保持扁平，禁止循环依赖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38912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5262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1EFEA"/>
                </a:solidFill>
                <a:latin typeface="Microsoft YaHei UI"/>
              </a:defRPr>
            </a:pPr>
            <a:r>
              <a:t>接口幂等 + 分布式锁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5DE"/>
                </a:solidFill>
                <a:latin typeface="Microsoft YaHei UI"/>
              </a:defRPr>
            </a:pPr>
            <a:r>
              <a:t>所有接口必须幂等，关键操作加分布式锁保护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85216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9893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1EFEA"/>
                </a:solidFill>
                <a:latin typeface="Microsoft YaHei UI"/>
              </a:defRPr>
            </a:pPr>
            <a:r>
              <a:t>订单状态机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5DE"/>
                </a:solidFill>
                <a:latin typeface="Microsoft YaHei UI"/>
              </a:defRPr>
            </a:pPr>
            <a:r>
              <a:t>全生命周期使用状态机管理，Spring Statemachine 驱动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585216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59893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1EFEA"/>
                </a:solidFill>
                <a:latin typeface="Microsoft YaHei UI"/>
              </a:defRPr>
            </a:pPr>
            <a:r>
              <a:t>无状态 · 可降级 · 可观测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5DE"/>
                </a:solidFill>
                <a:latin typeface="Microsoft YaHei UI"/>
              </a:defRPr>
            </a:pPr>
            <a:r>
              <a:t>服务必须无状态部署，支持降级，全链路可观测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架构设计原则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04 ·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微服务 ·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MICROSERVICES · 服务拆分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0A0A0B"/>
                </a:solidFill>
                <a:latin typeface="Microsoft YaHei UI"/>
              </a:defRPr>
            </a:pPr>
            <a:r>
              <a:t>8 大核心服务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0A0B"/>
                </a:solidFill>
                <a:latin typeface="Consolas"/>
              </a:rPr>
              <a:t>  gateway</a:t>
            </a:r>
            <a:r>
              <a:rPr sz="1300" b="0">
                <a:solidFill>
                  <a:srgbClr val="18181A"/>
                </a:solidFill>
                <a:latin typeface="Microsoft YaHei UI"/>
              </a:rPr>
              <a:t>    API 网关 — 统一入口，鉴权、限流、路由、跨域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0A0B"/>
                </a:solidFill>
                <a:latin typeface="Consolas"/>
              </a:rPr>
              <a:t>  user-service</a:t>
            </a:r>
            <a:r>
              <a:rPr sz="1300" b="0">
                <a:solidFill>
                  <a:srgbClr val="18181A"/>
                </a:solidFill>
                <a:latin typeface="Microsoft YaHei UI"/>
              </a:rPr>
              <a:t>    用户服务 — 注册登录、JWT 鉴权、RBAC 权限体系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0A0B"/>
                </a:solidFill>
                <a:latin typeface="Consolas"/>
              </a:rPr>
              <a:t>  merchant-service</a:t>
            </a:r>
            <a:r>
              <a:rPr sz="1300" b="0">
                <a:solidFill>
                  <a:srgbClr val="18181A"/>
                </a:solidFill>
                <a:latin typeface="Microsoft YaHei UI"/>
              </a:rPr>
              <a:t>    商家服务 — 商家入驻、菜品管理、购物车、SKU 规格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0A0B"/>
                </a:solidFill>
                <a:latin typeface="Consolas"/>
              </a:rPr>
              <a:t>  order-service</a:t>
            </a:r>
            <a:r>
              <a:rPr sz="1300" b="0">
                <a:solidFill>
                  <a:srgbClr val="18181A"/>
                </a:solidFill>
                <a:latin typeface="Microsoft YaHei UI"/>
              </a:rPr>
              <a:t>    订单服务（最复杂）— 状态机、分布式事务、高并发优化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0A0B"/>
                </a:solidFill>
                <a:latin typeface="Consolas"/>
              </a:rPr>
              <a:t>  payment-service</a:t>
            </a:r>
            <a:r>
              <a:rPr sz="1300" b="0">
                <a:solidFill>
                  <a:srgbClr val="18181A"/>
                </a:solidFill>
                <a:latin typeface="Microsoft YaHei UI"/>
              </a:rPr>
              <a:t>    支付服务 — 支付宝/微信沙箱集成、回调验签、退款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0A0B"/>
                </a:solidFill>
                <a:latin typeface="Consolas"/>
              </a:rPr>
              <a:t>  delivery-service</a:t>
            </a:r>
            <a:r>
              <a:rPr sz="1300" b="0">
                <a:solidFill>
                  <a:srgbClr val="18181A"/>
                </a:solidFill>
                <a:latin typeface="Microsoft YaHei UI"/>
              </a:rPr>
              <a:t>    配送服务（最前沿）— 智能调度、实时位置、抢单/派单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0A0B"/>
                </a:solidFill>
                <a:latin typeface="Consolas"/>
              </a:rPr>
              <a:t>  search-service</a:t>
            </a:r>
            <a:r>
              <a:rPr sz="1300" b="0">
                <a:solidFill>
                  <a:srgbClr val="18181A"/>
                </a:solidFill>
                <a:latin typeface="Microsoft YaHei UI"/>
              </a:rPr>
              <a:t>    搜索服务 — Elasticsearch 全文搜索与聚合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600" b="0">
                <a:solidFill>
                  <a:srgbClr val="E8E5D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0A0B"/>
                </a:solidFill>
                <a:latin typeface="Consolas"/>
              </a:rPr>
              <a:t>  notification-service</a:t>
            </a:r>
            <a:r>
              <a:rPr sz="1300" b="0">
                <a:solidFill>
                  <a:srgbClr val="18181A"/>
                </a:solidFill>
                <a:latin typeface="Microsoft YaHei UI"/>
              </a:rPr>
              <a:t>    通知服务 — WebSocket 推送、短信、消息可靠性保障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微服务拆分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05 ·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团队 ·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TEAM · 团队分工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1EFEA"/>
                </a:solidFill>
                <a:latin typeface="Microsoft YaHei UI"/>
              </a:defRPr>
            </a:pPr>
            <a:r>
              <a:t>5 人协作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52928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成员 1 · 架构负责人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F1EFEA"/>
                </a:solidFill>
                <a:latin typeface="Microsoft YaHei UI"/>
              </a:defRPr>
            </a:pPr>
            <a:r>
              <a:t>全局把控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5DE"/>
                </a:solidFill>
                <a:latin typeface="Microsoft YaHei UI"/>
              </a:defRPr>
            </a:pPr>
            <a:r>
              <a:t>网关服务、用户服务、Nacos 集群、全局框架、监控部署、代码审查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74320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2852928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成员 2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F1EFEA"/>
                </a:solidFill>
                <a:latin typeface="Microsoft YaHei UI"/>
              </a:defRPr>
            </a:pPr>
            <a:r>
              <a:t>商家服务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5DE"/>
                </a:solidFill>
                <a:latin typeface="Microsoft YaHei UI"/>
              </a:defRPr>
            </a:pPr>
            <a:r>
              <a:t>商家入驻、菜品管理、购物车（Redis）、商家端订单处理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6052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70248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成员 3 · 最复杂模块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F1EFEA"/>
                </a:solidFill>
                <a:latin typeface="Microsoft YaHei UI"/>
              </a:defRPr>
            </a:pPr>
            <a:r>
              <a:t>订单服务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5DE"/>
                </a:solidFill>
                <a:latin typeface="Microsoft YaHei UI"/>
              </a:defRPr>
            </a:pPr>
            <a:r>
              <a:t>全流程状态机、Seata 分布式事务、高并发优化、事件驱动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16052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270248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成员 4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F1EFEA"/>
                </a:solidFill>
                <a:latin typeface="Microsoft YaHei UI"/>
              </a:defRPr>
            </a:pPr>
            <a:r>
              <a:t>支付 + 通知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5DE"/>
                </a:solidFill>
                <a:latin typeface="Microsoft YaHei UI"/>
              </a:defRPr>
            </a:pPr>
            <a:r>
              <a:t>支付沙箱集成、实时消息推送、RabbitMQ 死信队列、回调安全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77840"/>
            <a:ext cx="4754880" cy="118872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687568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成员 5 · 最前沿模块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F1EFEA"/>
                </a:solidFill>
                <a:latin typeface="Microsoft YaHei UI"/>
              </a:defRPr>
            </a:pPr>
            <a:r>
              <a:t>配送调度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5DE"/>
                </a:solidFill>
                <a:latin typeface="Microsoft YaHei UI"/>
              </a:defRPr>
            </a:pPr>
            <a:r>
              <a:t>骑手服务、智能调度算法（Redis ZSet + 贪心）、实时位置上报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5 人后端团队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06 ·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部署 ·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DEPLOYMENT · 部署流程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0A0A0B"/>
                </a:solidFill>
                <a:latin typeface="Microsoft YaHei UI"/>
              </a:defRPr>
            </a:pPr>
            <a:r>
              <a:t>Docker Compose 一键部署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环境要求 ·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2377440" cy="1280160"/>
          </a:xfrm>
          <a:prstGeom prst="rect">
            <a:avLst/>
          </a:prstGeom>
          <a:solidFill>
            <a:srgbClr val="E8E5DE"/>
          </a:solidFill>
          <a:ln w="12700">
            <a:solidFill>
              <a:srgbClr val="D0C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808080"/>
                </a:solidFill>
                <a:latin typeface="Playfair Display"/>
              </a:defRPr>
            </a:pPr>
            <a:r>
              <a:t>01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A0A0B"/>
                </a:solidFill>
                <a:latin typeface="Microsoft YaHei UI"/>
              </a:defRPr>
            </a:pPr>
            <a:r>
              <a:t>JDK 21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181A"/>
                </a:solidFill>
                <a:latin typeface="Microsoft YaHei UI"/>
              </a:defRPr>
            </a:pPr>
            <a:r>
              <a:t>最新 LTS 版本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3017520"/>
            <a:ext cx="2377440" cy="1280160"/>
          </a:xfrm>
          <a:prstGeom prst="rect">
            <a:avLst/>
          </a:prstGeom>
          <a:solidFill>
            <a:srgbClr val="E8E5DE"/>
          </a:solidFill>
          <a:ln w="12700">
            <a:solidFill>
              <a:srgbClr val="D0C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1546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808080"/>
                </a:solidFill>
                <a:latin typeface="Playfair Display"/>
              </a:defRPr>
            </a:pPr>
            <a:r>
              <a:t>02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A0A0B"/>
                </a:solidFill>
                <a:latin typeface="Microsoft YaHei UI"/>
              </a:defRPr>
            </a:pPr>
            <a:r>
              <a:t>Maven 3.9+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181A"/>
                </a:solidFill>
                <a:latin typeface="Microsoft YaHei UI"/>
              </a:defRPr>
            </a:pPr>
            <a:r>
              <a:t>构建所有 JAR 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017520"/>
            <a:ext cx="2377440" cy="1280160"/>
          </a:xfrm>
          <a:prstGeom prst="rect">
            <a:avLst/>
          </a:prstGeom>
          <a:solidFill>
            <a:srgbClr val="E8E5DE"/>
          </a:solidFill>
          <a:ln w="12700">
            <a:solidFill>
              <a:srgbClr val="D0C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1546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808080"/>
                </a:solidFill>
                <a:latin typeface="Playfair Display"/>
              </a:defRPr>
            </a:pPr>
            <a:r>
              <a:t>03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A0A0B"/>
                </a:solidFill>
                <a:latin typeface="Microsoft YaHei UI"/>
              </a:defRPr>
            </a:pPr>
            <a:r>
              <a:t>Node.js 18+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181A"/>
                </a:solidFill>
                <a:latin typeface="Microsoft YaHei UI"/>
              </a:defRPr>
            </a:pPr>
            <a:r>
              <a:t>前端构建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3017520"/>
            <a:ext cx="2377440" cy="1280160"/>
          </a:xfrm>
          <a:prstGeom prst="rect">
            <a:avLst/>
          </a:prstGeom>
          <a:solidFill>
            <a:srgbClr val="E8E5DE"/>
          </a:solidFill>
          <a:ln w="12700">
            <a:solidFill>
              <a:srgbClr val="D0C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31546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808080"/>
                </a:solidFill>
                <a:latin typeface="Playfair Display"/>
              </a:defRPr>
            </a:pPr>
            <a:r>
              <a:t>04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A0A0B"/>
                </a:solidFill>
                <a:latin typeface="Microsoft YaHei UI"/>
              </a:defRPr>
            </a:pPr>
            <a:r>
              <a:t>Docker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181A"/>
                </a:solidFill>
                <a:latin typeface="Microsoft YaHei UI"/>
              </a:defRPr>
            </a:pPr>
            <a:r>
              <a:t>容器化部署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部署方式 · METHODS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37760"/>
            <a:ext cx="3200400" cy="1097280"/>
          </a:xfrm>
          <a:prstGeom prst="rect">
            <a:avLst/>
          </a:prstGeom>
          <a:solidFill>
            <a:srgbClr val="E8E5DE"/>
          </a:solidFill>
          <a:ln w="12700">
            <a:solidFill>
              <a:srgbClr val="D0C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47488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808080"/>
                </a:solidFill>
                <a:latin typeface="Playfair Display"/>
              </a:defRPr>
            </a:pPr>
            <a:r>
              <a:t>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A0A0B"/>
                </a:solidFill>
                <a:latin typeface="Microsoft YaHei UI"/>
              </a:defRPr>
            </a:pPr>
            <a:r>
              <a:t>本地开发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181A"/>
                </a:solidFill>
                <a:latin typeface="Microsoft YaHei UI"/>
              </a:defRPr>
            </a:pPr>
            <a:r>
              <a:t>--spring.profiles.active=local，连接 localhost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937760"/>
            <a:ext cx="3200400" cy="1097280"/>
          </a:xfrm>
          <a:prstGeom prst="rect">
            <a:avLst/>
          </a:prstGeom>
          <a:solidFill>
            <a:srgbClr val="E8E5DE"/>
          </a:solidFill>
          <a:ln w="12700">
            <a:solidFill>
              <a:srgbClr val="D0C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5047488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808080"/>
                </a:solidFill>
                <a:latin typeface="Playfair Display"/>
              </a:defRPr>
            </a:pPr>
            <a:r>
              <a:t>B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A0A0B"/>
                </a:solidFill>
                <a:latin typeface="Microsoft YaHei UI"/>
              </a:defRPr>
            </a:pPr>
            <a:r>
              <a:t>Docker Compose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181A"/>
                </a:solidFill>
                <a:latin typeface="Microsoft YaHei UI"/>
              </a:defRPr>
            </a:pPr>
            <a:r>
              <a:t>10 个容器一键启动，含监控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937760"/>
            <a:ext cx="3200400" cy="1097280"/>
          </a:xfrm>
          <a:prstGeom prst="rect">
            <a:avLst/>
          </a:prstGeom>
          <a:solidFill>
            <a:srgbClr val="E8E5DE"/>
          </a:solidFill>
          <a:ln w="12700">
            <a:solidFill>
              <a:srgbClr val="D0C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047488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808080"/>
                </a:solidFill>
                <a:latin typeface="Playfair Display"/>
              </a:defRPr>
            </a:pPr>
            <a:r>
              <a:t>C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A0A0B"/>
                </a:solidFill>
                <a:latin typeface="Microsoft YaHei UI"/>
              </a:defRPr>
            </a:pPr>
            <a:r>
              <a:t>离线部署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181A"/>
                </a:solidFill>
                <a:latin typeface="Microsoft YaHei UI"/>
              </a:defRPr>
            </a:pPr>
            <a:r>
              <a:t>docker save/load 导出导入镜像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前端 :80 · API 网关 :9999 · Nacos :8848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07 ·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流程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WORKFLOW · 开发协作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1EFEA"/>
                </a:solidFill>
                <a:latin typeface="Microsoft YaHei UI"/>
              </a:defRPr>
            </a:pPr>
            <a:r>
              <a:t>从分支到上线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4754880" cy="128016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1EFEA"/>
                </a:solidFill>
                <a:latin typeface="Microsoft YaHei UI"/>
              </a:defRPr>
            </a:pPr>
            <a:r>
              <a:t>分支策略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5DE"/>
                </a:solidFill>
                <a:latin typeface="Microsoft YaHei UI"/>
              </a:defRPr>
            </a:pPr>
            <a:r>
              <a:t>dev 分支 → feature/xxx 分支开发 → PR → 架构负责人 Review → 合并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926080"/>
            <a:ext cx="4754880" cy="128016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30632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1EFEA"/>
                </a:solidFill>
                <a:latin typeface="Microsoft YaHei UI"/>
              </a:defRPr>
            </a:pPr>
            <a:r>
              <a:t>跨成员协作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5DE"/>
                </a:solidFill>
                <a:latin typeface="Microsoft YaHei UI"/>
              </a:defRPr>
            </a:pPr>
            <a:r>
              <a:t>数据库整体设计（雪花 ID）、统一接口规范、Knife4J 文档、ER 关系对齐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80560"/>
            <a:ext cx="4754880" cy="128016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1EFEA"/>
                </a:solidFill>
                <a:latin typeface="Microsoft YaHei UI"/>
              </a:defRPr>
            </a:pPr>
            <a:r>
              <a:t>测试体系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5DE"/>
                </a:solidFill>
                <a:latin typeface="Microsoft YaHei UI"/>
              </a:defRPr>
            </a:pPr>
            <a:r>
              <a:t>JUnit5 单元测试 + Testcontainers 集成测试 + JMeter 性能压测（订单创建、骑手抢单）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480560"/>
            <a:ext cx="4754880" cy="1280160"/>
          </a:xfrm>
          <a:prstGeom prst="rect">
            <a:avLst/>
          </a:prstGeom>
          <a:solidFill>
            <a:srgbClr val="18181A"/>
          </a:solidFill>
          <a:ln w="12700">
            <a:solidFill>
              <a:srgbClr val="404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6177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1EFEA"/>
                </a:solidFill>
                <a:latin typeface="Microsoft YaHei UI"/>
              </a:defRPr>
            </a:pPr>
            <a:r>
              <a:t>可观测性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5DE"/>
                </a:solidFill>
                <a:latin typeface="Microsoft YaHei UI"/>
              </a:defRPr>
            </a:pPr>
            <a:r>
              <a:t>traceId 全链路追踪 · Grafana 面板（订单量、骑手分布、事务成功率）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开发流程与协作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08 ·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结语 ·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  <a:defRPr sz="1000" b="0">
                <a:solidFill>
                  <a:srgbClr val="808080"/>
                </a:solidFill>
                <a:latin typeface="Consolas"/>
              </a:defRPr>
            </a:pPr>
            <a:r>
              <a:t>TAKEAWAY · 核心关键词</a:t>
            </a:r>
          </a:p>
          <a:p>
            <a:pPr algn="l">
              <a:spcBef>
                <a:spcPts val="0"/>
              </a:spcBef>
              <a:spcAft>
                <a:spcPts val="2400"/>
              </a:spcAft>
              <a:defRPr sz="4800" b="1">
                <a:solidFill>
                  <a:srgbClr val="0A0A0B"/>
                </a:solidFill>
                <a:latin typeface="Microsoft YaHei UI"/>
              </a:defRPr>
            </a:pPr>
            <a:r>
              <a:t>云原生外卖平台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1400" b="0">
                <a:solidFill>
                  <a:srgbClr val="808080"/>
                </a:solidFill>
                <a:latin typeface="Consolas"/>
              </a:rPr>
              <a:t>云原生</a:t>
            </a:r>
            <a:r>
              <a:rPr sz="1400" b="0">
                <a:solidFill>
                  <a:srgbClr val="808080"/>
                </a:solidFill>
                <a:latin typeface="Consolas"/>
              </a:rPr>
              <a:t>  ·  </a:t>
            </a:r>
            <a:r>
              <a:rPr sz="1400" b="0">
                <a:solidFill>
                  <a:srgbClr val="808080"/>
                </a:solidFill>
                <a:latin typeface="Consolas"/>
              </a:rPr>
              <a:t>微服务</a:t>
            </a:r>
            <a:r>
              <a:rPr sz="1400" b="0">
                <a:solidFill>
                  <a:srgbClr val="808080"/>
                </a:solidFill>
                <a:latin typeface="Consolas"/>
              </a:rPr>
              <a:t>  ·  </a:t>
            </a:r>
            <a:r>
              <a:rPr sz="1400" b="0">
                <a:solidFill>
                  <a:srgbClr val="808080"/>
                </a:solidFill>
                <a:latin typeface="Consolas"/>
              </a:rPr>
              <a:t>事件驱动</a:t>
            </a:r>
            <a:r>
              <a:rPr sz="1400" b="0">
                <a:solidFill>
                  <a:srgbClr val="808080"/>
                </a:solidFill>
                <a:latin typeface="Consolas"/>
              </a:rPr>
              <a:t>  ·  </a:t>
            </a:r>
            <a:r>
              <a:rPr sz="1400" b="0">
                <a:solidFill>
                  <a:srgbClr val="808080"/>
                </a:solidFill>
                <a:latin typeface="Consolas"/>
              </a:rPr>
              <a:t>实时智能</a:t>
            </a:r>
            <a:r>
              <a:rPr sz="1400" b="0">
                <a:solidFill>
                  <a:srgbClr val="808080"/>
                </a:solidFill>
                <a:latin typeface="Consolas"/>
              </a:rPr>
              <a:t>  ·  </a:t>
            </a:r>
            <a:r>
              <a:rPr sz="1400" b="0">
                <a:solidFill>
                  <a:srgbClr val="808080"/>
                </a:solidFill>
                <a:latin typeface="Consolas"/>
              </a:rPr>
              <a:t>全链路可观测</a:t>
            </a:r>
          </a:p>
          <a:p>
            <a:pPr algn="l">
              <a:spcBef>
                <a:spcPts val="0"/>
              </a:spcBef>
              <a:spcAft>
                <a:spcPts val="3200"/>
              </a:spcAft>
              <a:defRPr sz="1600" b="0">
                <a:solidFill>
                  <a:srgbClr val="18181A"/>
                </a:solidFill>
                <a:latin typeface="Microsoft YaHei UI"/>
              </a:defRPr>
            </a:pPr>
            <a:r>
              <a:t>从架构设计到容器部署，从状态机到智能调度，这是一个完整的微服务实践。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08080"/>
                </a:solidFill>
                <a:latin typeface="Consolas"/>
              </a:rPr>
              <a:t>SpringBoot 外卖点餐平台</a:t>
            </a:r>
            <a:r>
              <a:rPr sz="1100" b="0">
                <a:solidFill>
                  <a:srgbClr val="808080"/>
                </a:solidFill>
                <a:latin typeface="Consolas"/>
              </a:rPr>
              <a:t>  ·  </a:t>
            </a:r>
            <a:r>
              <a:rPr sz="1100" b="0">
                <a:solidFill>
                  <a:srgbClr val="808080"/>
                </a:solidFill>
                <a:latin typeface="Consolas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Consolas"/>
              </a:defRPr>
            </a:pPr>
            <a:r>
              <a:t>— ·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